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35" r:id="rId5"/>
    <p:sldId id="336" r:id="rId6"/>
    <p:sldId id="353" r:id="rId7"/>
    <p:sldId id="354" r:id="rId8"/>
    <p:sldId id="355" r:id="rId9"/>
    <p:sldId id="356" r:id="rId10"/>
    <p:sldId id="362" r:id="rId11"/>
    <p:sldId id="363" r:id="rId12"/>
    <p:sldId id="358" r:id="rId13"/>
    <p:sldId id="359" r:id="rId14"/>
    <p:sldId id="360" r:id="rId15"/>
    <p:sldId id="337" r:id="rId16"/>
    <p:sldId id="348" r:id="rId17"/>
    <p:sldId id="349" r:id="rId18"/>
    <p:sldId id="361" r:id="rId19"/>
    <p:sldId id="341" r:id="rId20"/>
    <p:sldId id="33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țiune implicită" id="{BB9681C5-183F-4D93-BDDE-2734BD09CACA}">
          <p14:sldIdLst>
            <p14:sldId id="335"/>
            <p14:sldId id="336"/>
            <p14:sldId id="353"/>
            <p14:sldId id="354"/>
            <p14:sldId id="355"/>
            <p14:sldId id="356"/>
            <p14:sldId id="362"/>
            <p14:sldId id="363"/>
            <p14:sldId id="358"/>
            <p14:sldId id="359"/>
            <p14:sldId id="360"/>
            <p14:sldId id="337"/>
            <p14:sldId id="348"/>
            <p14:sldId id="349"/>
            <p14:sldId id="361"/>
            <p14:sldId id="341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111" d="100"/>
          <a:sy n="111" d="100"/>
        </p:scale>
        <p:origin x="594" y="150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tti.upb.ro/wp-content/uploads/2024/04/Sisteme-Inteligente-si-Vedere-Artificiala.pdf?utm_source=chatgpt.com" TargetMode="External"/><Relationship Id="rId2" Type="http://schemas.openxmlformats.org/officeDocument/2006/relationships/hyperlink" Target="https://www.editurauniversitara.ro/stiinte-economice-3/tehnici-de-clasificare-automata-a-datelor-utilizarea-retelelor-neuronale-in-stabilirea-ratingului-de-tara.html?utm_source=chatgpt.com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sciencedirect.com/science/article/pii/S0888327020305275" TargetMode="External"/><Relationship Id="rId4" Type="http://schemas.openxmlformats.org/officeDocument/2006/relationships/hyperlink" Target="https://itransfer.uaic.ro/2019/02/01/folosirea-retelelor-neuronale-in-clasificarea-de-imagini/index.html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28083"/>
            <a:ext cx="5221224" cy="3056343"/>
          </a:xfrm>
        </p:spPr>
        <p:txBody>
          <a:bodyPr>
            <a:normAutofit fontScale="90000"/>
          </a:bodyPr>
          <a:lstStyle/>
          <a:p>
            <a:r>
              <a:rPr lang="en-US" dirty="0"/>
              <a:t>IDENTIFICAREA ȘI CLASIFICAREA ELEMENTELOR DE FIXARE: PIESE FIZICE ȘI MODELE CAD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 err="1"/>
              <a:t>Descriere</a:t>
            </a:r>
            <a:r>
              <a:rPr lang="en-US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1. </a:t>
            </a:r>
            <a:r>
              <a:rPr lang="en-US" dirty="0" err="1"/>
              <a:t>Descrieți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</a:t>
            </a:r>
            <a:r>
              <a:rPr lang="en-US" dirty="0" err="1"/>
              <a:t>generală</a:t>
            </a:r>
            <a:r>
              <a:rPr lang="en-US" dirty="0"/>
              <a:t> a </a:t>
            </a:r>
            <a:r>
              <a:rPr lang="en-US" dirty="0" err="1"/>
              <a:t>proiectului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Sistemelor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Identificați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Industrial de </a:t>
            </a:r>
            <a:r>
              <a:rPr lang="en-US" dirty="0" err="1"/>
              <a:t>Interes</a:t>
            </a:r>
            <a:r>
              <a:rPr lang="en-US" dirty="0"/>
              <a:t> (DII) – un </a:t>
            </a:r>
            <a:r>
              <a:rPr lang="en-US" dirty="0" err="1"/>
              <a:t>studiu</a:t>
            </a:r>
            <a:r>
              <a:rPr lang="en-US" dirty="0"/>
              <a:t> de </a:t>
            </a:r>
            <a:r>
              <a:rPr lang="en-US" dirty="0" err="1"/>
              <a:t>caz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Prezentați</a:t>
            </a:r>
            <a:r>
              <a:rPr lang="en-US" dirty="0"/>
              <a:t> </a:t>
            </a:r>
            <a:r>
              <a:rPr lang="en-US" dirty="0" err="1"/>
              <a:t>stadiul</a:t>
            </a:r>
            <a:r>
              <a:rPr lang="en-US" dirty="0"/>
              <a:t> actual al </a:t>
            </a:r>
            <a:r>
              <a:rPr lang="en-US" dirty="0" err="1"/>
              <a:t>studiului</a:t>
            </a:r>
            <a:r>
              <a:rPr lang="en-US" dirty="0"/>
              <a:t> de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identificati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tendințelor</a:t>
            </a:r>
            <a:r>
              <a:rPr lang="en-US" dirty="0"/>
              <a:t> </a:t>
            </a:r>
            <a:r>
              <a:rPr lang="en-US" dirty="0" err="1"/>
              <a:t>actuale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/</a:t>
            </a:r>
            <a:r>
              <a:rPr lang="en-US" dirty="0" err="1"/>
              <a:t>activități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pot fi </a:t>
            </a:r>
            <a:r>
              <a:rPr lang="en-US" dirty="0" err="1"/>
              <a:t>îmbunătățite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(</a:t>
            </a:r>
            <a:r>
              <a:rPr lang="en-US" dirty="0" err="1"/>
              <a:t>Rețele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)</a:t>
            </a:r>
          </a:p>
          <a:p>
            <a:r>
              <a:rPr lang="en-US" dirty="0"/>
              <a:t>4. </a:t>
            </a:r>
            <a:r>
              <a:rPr lang="en-US" dirty="0" err="1"/>
              <a:t>Argumentați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beneficii</a:t>
            </a:r>
            <a:r>
              <a:rPr lang="en-US" dirty="0"/>
              <a:t> </a:t>
            </a:r>
            <a:r>
              <a:rPr lang="en-US" dirty="0" err="1"/>
              <a:t>măsurabile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aducă</a:t>
            </a:r>
            <a:r>
              <a:rPr lang="en-US" dirty="0"/>
              <a:t> SIA</a:t>
            </a:r>
          </a:p>
          <a:p>
            <a:r>
              <a:rPr lang="en-US" dirty="0"/>
              <a:t>5. </a:t>
            </a:r>
            <a:r>
              <a:rPr lang="en-US" dirty="0" err="1"/>
              <a:t>Decizii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Concluzii</a:t>
            </a:r>
            <a:r>
              <a:rPr lang="en-US" dirty="0"/>
              <a:t> </a:t>
            </a:r>
          </a:p>
          <a:p>
            <a:r>
              <a:rPr lang="en-US" dirty="0"/>
              <a:t>6 </a:t>
            </a:r>
            <a:r>
              <a:rPr lang="en-US" dirty="0" err="1"/>
              <a:t>Biblograife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88437D-1EE3-ACCF-EAFF-8676A30D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Descrieți ideea generală a proiectului în contextul Sistemelor cu Inteligență Artificială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21C85EB-ADBE-70A8-15F2-B38A657155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Proiectul</a:t>
            </a:r>
            <a:r>
              <a:rPr lang="en-US" dirty="0"/>
              <a:t> meu s a </a:t>
            </a:r>
            <a:r>
              <a:rPr lang="en-US" dirty="0" err="1"/>
              <a:t>bazat</a:t>
            </a:r>
            <a:r>
              <a:rPr lang="en-US" dirty="0"/>
              <a:t> initial pe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modelelor</a:t>
            </a:r>
            <a:r>
              <a:rPr lang="en-US" dirty="0"/>
              <a:t> cad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palpabile</a:t>
            </a:r>
            <a:r>
              <a:rPr lang="en-US" dirty="0"/>
              <a:t> diverse , </a:t>
            </a:r>
            <a:r>
              <a:rPr lang="en-US" dirty="0" err="1"/>
              <a:t>dar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unur</a:t>
            </a:r>
            <a:r>
              <a:rPr lang="en-US" dirty="0"/>
              <a:t> teste de </a:t>
            </a:r>
            <a:r>
              <a:rPr lang="en-US" dirty="0" err="1"/>
              <a:t>invatare</a:t>
            </a:r>
            <a:r>
              <a:rPr lang="en-US" dirty="0"/>
              <a:t> a </a:t>
            </a:r>
            <a:r>
              <a:rPr lang="en-US" dirty="0" err="1"/>
              <a:t>inteligentei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r>
              <a:rPr lang="en-US" dirty="0"/>
              <a:t>,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proprie</a:t>
            </a:r>
            <a:r>
              <a:rPr lang="en-US" dirty="0"/>
              <a:t> era </a:t>
            </a:r>
            <a:r>
              <a:rPr lang="en-US" dirty="0" err="1"/>
              <a:t>prea</a:t>
            </a:r>
            <a:r>
              <a:rPr lang="en-US" dirty="0"/>
              <a:t> mica (400 </a:t>
            </a:r>
            <a:r>
              <a:rPr lang="en-US" dirty="0" err="1"/>
              <a:t>poze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categoriile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vaste</a:t>
            </a:r>
            <a:r>
              <a:rPr lang="en-US" dirty="0"/>
              <a:t>).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incat</a:t>
            </a:r>
            <a:r>
              <a:rPr lang="en-US" dirty="0"/>
              <a:t> am </a:t>
            </a:r>
            <a:r>
              <a:rPr lang="en-US" dirty="0" err="1"/>
              <a:t>decis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de date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vasta</a:t>
            </a:r>
            <a:r>
              <a:rPr lang="en-US" dirty="0"/>
              <a:t> </a:t>
            </a:r>
            <a:r>
              <a:rPr lang="en-US" dirty="0" err="1"/>
              <a:t>gasita</a:t>
            </a:r>
            <a:r>
              <a:rPr lang="en-US" dirty="0"/>
              <a:t> online </a:t>
            </a:r>
            <a:r>
              <a:rPr lang="en-US" dirty="0" err="1"/>
              <a:t>plsu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300 – 400 de date </a:t>
            </a:r>
            <a:r>
              <a:rPr lang="en-US" dirty="0" err="1"/>
              <a:t>propri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originale</a:t>
            </a:r>
            <a:r>
              <a:rPr lang="en-US" dirty="0"/>
              <a:t> , </a:t>
            </a:r>
            <a:r>
              <a:rPr lang="en-US" dirty="0" err="1"/>
              <a:t>construite</a:t>
            </a:r>
            <a:r>
              <a:rPr lang="en-US" dirty="0"/>
              <a:t> de mine personal in </a:t>
            </a:r>
            <a:r>
              <a:rPr lang="en-US" dirty="0" err="1"/>
              <a:t>programe</a:t>
            </a:r>
            <a:r>
              <a:rPr lang="en-US" dirty="0"/>
              <a:t> precum: ( Catia, </a:t>
            </a:r>
            <a:r>
              <a:rPr lang="en-US" dirty="0" err="1"/>
              <a:t>Fusion,Solidworks</a:t>
            </a:r>
            <a:r>
              <a:rPr lang="en-US" dirty="0"/>
              <a:t>) 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directia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 s a </a:t>
            </a:r>
            <a:r>
              <a:rPr lang="en-US" dirty="0" err="1"/>
              <a:t>indreptat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clasificarea</a:t>
            </a:r>
            <a:r>
              <a:rPr lang="en-US" dirty="0"/>
              <a:t> 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/ </a:t>
            </a:r>
            <a:r>
              <a:rPr lang="en-US" dirty="0" err="1"/>
              <a:t>modele</a:t>
            </a:r>
            <a:r>
              <a:rPr lang="en-US" dirty="0"/>
              <a:t> cad de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de </a:t>
            </a:r>
            <a:r>
              <a:rPr lang="en-US" dirty="0" err="1"/>
              <a:t>fixare</a:t>
            </a:r>
            <a:r>
              <a:rPr lang="en-US" dirty="0"/>
              <a:t> </a:t>
            </a:r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FC98055-F06B-C3B5-6C02-5BCF1DA5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91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37D2427-BE09-50A1-8CEB-095B8F1E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 </a:t>
            </a:r>
            <a:r>
              <a:rPr lang="en-US" dirty="0" err="1"/>
              <a:t>Identificați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Industrial de </a:t>
            </a:r>
            <a:r>
              <a:rPr lang="en-US" dirty="0" err="1"/>
              <a:t>Interes</a:t>
            </a:r>
            <a:r>
              <a:rPr lang="en-US" dirty="0"/>
              <a:t> (DII) – un </a:t>
            </a:r>
            <a:r>
              <a:rPr lang="en-US" dirty="0" err="1"/>
              <a:t>studiu</a:t>
            </a:r>
            <a:r>
              <a:rPr lang="en-US" dirty="0"/>
              <a:t> de </a:t>
            </a:r>
            <a:r>
              <a:rPr lang="en-US" dirty="0" err="1"/>
              <a:t>caz</a:t>
            </a: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049ACEE-1C50-BC0A-5E23-B68F67ED3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399032"/>
            <a:ext cx="8324089" cy="496726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deservi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mașinilor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robotizate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domestic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persoanelor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Rolul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corespondente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mecanisme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robotizate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finisajele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realizându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fabricilor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economii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substanțiale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924F67D-3165-2AED-8710-54CE3106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69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E28A59-2E58-4455-21DE-7D01722B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39" y="0"/>
            <a:ext cx="10467925" cy="1164566"/>
          </a:xfrm>
        </p:spPr>
        <p:txBody>
          <a:bodyPr>
            <a:normAutofit/>
          </a:bodyPr>
          <a:lstStyle/>
          <a:p>
            <a:r>
              <a:rPr lang="en-US" dirty="0" err="1"/>
              <a:t>Stadiul</a:t>
            </a:r>
            <a:r>
              <a:rPr lang="en-US" dirty="0"/>
              <a:t> actual al </a:t>
            </a:r>
            <a:r>
              <a:rPr lang="en-US" dirty="0" err="1"/>
              <a:t>studiului</a:t>
            </a:r>
            <a:r>
              <a:rPr lang="en-US" dirty="0"/>
              <a:t> de </a:t>
            </a:r>
            <a:r>
              <a:rPr lang="en-US" dirty="0" err="1"/>
              <a:t>caz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15B3364-AA9C-6D31-CE16-B25B1D9F1C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4988" y="1164566"/>
            <a:ext cx="8324089" cy="458770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Sistemul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Inteligență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finalizat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încărcarea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piuliță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șurub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bolt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ghidaj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șaibă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antrenării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modelului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identificării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mecanice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erorilor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manuală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Creșterea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vitezei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Suport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standardizare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reutilizare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mediile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inventariere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7E490BE-3CD3-2CEE-EFE0-47758B32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6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183DC43-4743-C3AF-7702-2D64AC80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Argumentați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beneficii</a:t>
            </a:r>
            <a:r>
              <a:rPr lang="en-US" dirty="0"/>
              <a:t> </a:t>
            </a:r>
            <a:r>
              <a:rPr lang="en-US" dirty="0" err="1"/>
              <a:t>măsurabile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aducă</a:t>
            </a:r>
            <a:r>
              <a:rPr lang="en-US" dirty="0"/>
              <a:t> SIA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AC449CE-8E59-34E7-BAEC-798979AF64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 err="1"/>
              <a:t>Beneficii</a:t>
            </a:r>
            <a:r>
              <a:rPr lang="en-US" b="1" dirty="0"/>
              <a:t> </a:t>
            </a:r>
            <a:r>
              <a:rPr lang="en-US" b="1" dirty="0" err="1"/>
              <a:t>măsurabile</a:t>
            </a:r>
            <a:r>
              <a:rPr lang="en-US" b="1" dirty="0"/>
              <a:t> ale </a:t>
            </a:r>
            <a:r>
              <a:rPr lang="en-US" b="1" dirty="0" err="1"/>
              <a:t>Sistemului</a:t>
            </a:r>
            <a:r>
              <a:rPr lang="en-US" b="1" dirty="0"/>
              <a:t> cu </a:t>
            </a:r>
            <a:r>
              <a:rPr lang="en-US" b="1" dirty="0" err="1"/>
              <a:t>Inteligență</a:t>
            </a:r>
            <a:r>
              <a:rPr lang="en-US" b="1" dirty="0"/>
              <a:t> </a:t>
            </a:r>
            <a:r>
              <a:rPr lang="en-US" b="1" dirty="0" err="1"/>
              <a:t>Artificială</a:t>
            </a:r>
            <a:r>
              <a:rPr lang="en-US" b="1" dirty="0"/>
              <a:t> (SIA)</a:t>
            </a:r>
          </a:p>
          <a:p>
            <a:r>
              <a:rPr lang="en-US" dirty="0" err="1"/>
              <a:t>Sistemul</a:t>
            </a:r>
            <a:r>
              <a:rPr lang="en-US" dirty="0"/>
              <a:t> reduce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identificare</a:t>
            </a:r>
            <a:r>
              <a:rPr lang="en-US" dirty="0"/>
              <a:t> a </a:t>
            </a:r>
            <a:r>
              <a:rPr lang="en-US" dirty="0" err="1"/>
              <a:t>pieselor</a:t>
            </a:r>
            <a:r>
              <a:rPr lang="en-US" dirty="0"/>
              <a:t> cu </a:t>
            </a:r>
            <a:r>
              <a:rPr lang="en-US" dirty="0" err="1"/>
              <a:t>peste</a:t>
            </a:r>
            <a:r>
              <a:rPr lang="en-US" dirty="0"/>
              <a:t> 70–90% </a:t>
            </a:r>
            <a:r>
              <a:rPr lang="en-US" dirty="0" err="1"/>
              <a:t>comparativ</a:t>
            </a:r>
            <a:r>
              <a:rPr lang="en-US" dirty="0"/>
              <a:t> cu </a:t>
            </a:r>
            <a:r>
              <a:rPr lang="en-US" dirty="0" err="1"/>
              <a:t>clasificarea</a:t>
            </a:r>
            <a:r>
              <a:rPr lang="en-US" dirty="0"/>
              <a:t> </a:t>
            </a:r>
            <a:r>
              <a:rPr lang="en-US" dirty="0" err="1"/>
              <a:t>manuală</a:t>
            </a:r>
            <a:r>
              <a:rPr lang="en-US" dirty="0"/>
              <a:t>, </a:t>
            </a:r>
            <a:r>
              <a:rPr lang="en-US" dirty="0" err="1"/>
              <a:t>crește</a:t>
            </a:r>
            <a:r>
              <a:rPr lang="en-US" dirty="0"/>
              <a:t> </a:t>
            </a:r>
            <a:r>
              <a:rPr lang="en-US" dirty="0" err="1"/>
              <a:t>acuratețea</a:t>
            </a:r>
            <a:r>
              <a:rPr lang="en-US" dirty="0"/>
              <a:t> </a:t>
            </a:r>
            <a:r>
              <a:rPr lang="en-US" dirty="0" err="1"/>
              <a:t>recunoașterii</a:t>
            </a:r>
            <a:r>
              <a:rPr lang="en-US" dirty="0"/>
              <a:t> la </a:t>
            </a:r>
            <a:r>
              <a:rPr lang="en-US" dirty="0" err="1"/>
              <a:t>valori</a:t>
            </a:r>
            <a:r>
              <a:rPr lang="en-US" dirty="0"/>
              <a:t> de </a:t>
            </a:r>
            <a:r>
              <a:rPr lang="en-US" dirty="0" err="1"/>
              <a:t>peste</a:t>
            </a:r>
            <a:r>
              <a:rPr lang="en-US" dirty="0"/>
              <a:t> 95%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minimizează</a:t>
            </a:r>
            <a:r>
              <a:rPr lang="en-US" dirty="0"/>
              <a:t> </a:t>
            </a:r>
            <a:r>
              <a:rPr lang="en-US" dirty="0" err="1"/>
              <a:t>erorile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identificare</a:t>
            </a:r>
            <a:r>
              <a:rPr lang="en-US" dirty="0"/>
              <a:t>. Prin </a:t>
            </a:r>
            <a:r>
              <a:rPr lang="en-US" dirty="0" err="1"/>
              <a:t>automatizarea</a:t>
            </a:r>
            <a:r>
              <a:rPr lang="en-US" dirty="0"/>
              <a:t> </a:t>
            </a:r>
            <a:r>
              <a:rPr lang="en-US" dirty="0" err="1"/>
              <a:t>recunoașterii</a:t>
            </a:r>
            <a:r>
              <a:rPr lang="en-US" dirty="0"/>
              <a:t> </a:t>
            </a:r>
            <a:r>
              <a:rPr lang="en-US" dirty="0" err="1"/>
              <a:t>componentelor</a:t>
            </a:r>
            <a:r>
              <a:rPr lang="en-US" dirty="0"/>
              <a:t> </a:t>
            </a:r>
            <a:r>
              <a:rPr lang="en-US" dirty="0" err="1"/>
              <a:t>mecanice</a:t>
            </a:r>
            <a:r>
              <a:rPr lang="en-US" dirty="0"/>
              <a:t>, </a:t>
            </a:r>
            <a:r>
              <a:rPr lang="en-US" dirty="0" err="1"/>
              <a:t>productivitatea</a:t>
            </a:r>
            <a:r>
              <a:rPr lang="en-US" dirty="0"/>
              <a:t> </a:t>
            </a:r>
            <a:r>
              <a:rPr lang="en-US" dirty="0" err="1"/>
              <a:t>generală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îmbunătățită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costurile</a:t>
            </a:r>
            <a:r>
              <a:rPr lang="en-US" dirty="0"/>
              <a:t> </a:t>
            </a:r>
            <a:r>
              <a:rPr lang="en-US" dirty="0" err="1"/>
              <a:t>operaționale</a:t>
            </a:r>
            <a:r>
              <a:rPr lang="en-US" dirty="0"/>
              <a:t> sunt </a:t>
            </a:r>
            <a:r>
              <a:rPr lang="en-US" dirty="0" err="1"/>
              <a:t>reduse</a:t>
            </a:r>
            <a:r>
              <a:rPr lang="en-US" dirty="0"/>
              <a:t>.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scalabil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facilă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componente</a:t>
            </a:r>
            <a:r>
              <a:rPr lang="en-US" dirty="0"/>
              <a:t>,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modificări</a:t>
            </a:r>
            <a:r>
              <a:rPr lang="en-US" dirty="0"/>
              <a:t> </a:t>
            </a:r>
            <a:r>
              <a:rPr lang="en-US" dirty="0" err="1"/>
              <a:t>majore</a:t>
            </a:r>
            <a:r>
              <a:rPr lang="en-US" dirty="0"/>
              <a:t> ale </a:t>
            </a:r>
            <a:r>
              <a:rPr lang="en-US" dirty="0" err="1"/>
              <a:t>arhitecturii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C743D3F1-567C-E746-D368-4394DD13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44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0FCA784-8709-4835-25F0-64F517D6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u 1">
            <a:extLst>
              <a:ext uri="{FF2B5EF4-FFF2-40B4-BE49-F238E27FC236}">
                <a16:creationId xmlns:a16="http://schemas.microsoft.com/office/drawing/2014/main" id="{4EAE745B-F55B-111C-D4F4-10DFFA0E1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517" y="77638"/>
            <a:ext cx="10032521" cy="685800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SIA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digital)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pregătirea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CSV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învață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potrivite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recomande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6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BF37A02-635E-DBEC-D2D6-BD9FFBFE0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0127411" cy="634041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permit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dezvoltării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cerințelor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Logging,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Services.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CAD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 (Python)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(Python)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Schimbul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CAD/SIA</a:t>
            </a:r>
          </a:p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CFA9B66-EF86-45AB-F8E9-7A94FAE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472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2E5B337-DBC4-6025-8585-045BA484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B97544-ED4C-9AE0-DBA5-3FA45A582E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26920"/>
            <a:ext cx="3017520" cy="3901758"/>
          </a:xfrm>
        </p:spPr>
        <p:txBody>
          <a:bodyPr/>
          <a:lstStyle/>
          <a:p>
            <a:r>
              <a:rPr lang="en-US" dirty="0" err="1"/>
              <a:t>Exemplificare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system </a:t>
            </a:r>
            <a:r>
              <a:rPr lang="en-US" dirty="0" err="1"/>
              <a:t>implementat</a:t>
            </a:r>
            <a:r>
              <a:rPr lang="en-US" dirty="0"/>
              <a:t> in </a:t>
            </a:r>
            <a:r>
              <a:rPr lang="en-US" dirty="0" err="1"/>
              <a:t>ateliere</a:t>
            </a:r>
            <a:r>
              <a:rPr lang="en-US" dirty="0"/>
              <a:t> de casa</a:t>
            </a:r>
          </a:p>
        </p:txBody>
      </p:sp>
      <p:pic>
        <p:nvPicPr>
          <p:cNvPr id="5" name="exemplificare_2">
            <a:hlinkClick r:id="" action="ppaction://media"/>
            <a:extLst>
              <a:ext uri="{FF2B5EF4-FFF2-40B4-BE49-F238E27FC236}">
                <a16:creationId xmlns:a16="http://schemas.microsoft.com/office/drawing/2014/main" id="{17246FFC-9467-B276-CEA0-53733054B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5963" y="2074457"/>
            <a:ext cx="6766877" cy="3806367"/>
          </a:xfrm>
          <a:prstGeom prst="rect">
            <a:avLst/>
          </a:prstGeom>
          <a:noFill/>
        </p:spPr>
      </p:pic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969408C-903E-AA99-AFB4-EBE0FDCD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9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C94DD84-FAEC-D8EF-3843-4C0614A8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4B43B2E-FEB4-0525-1C08-E1EAD1B0E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Exemplificare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industrii</a:t>
            </a:r>
            <a:r>
              <a:rPr lang="en-US" dirty="0"/>
              <a:t> </a:t>
            </a:r>
            <a:r>
              <a:rPr lang="en-US" dirty="0" err="1"/>
              <a:t>mari</a:t>
            </a:r>
            <a:endParaRPr lang="en-US" dirty="0"/>
          </a:p>
        </p:txBody>
      </p:sp>
      <p:pic>
        <p:nvPicPr>
          <p:cNvPr id="6" name="exemplificare_1">
            <a:hlinkClick r:id="" action="ppaction://media"/>
            <a:extLst>
              <a:ext uri="{FF2B5EF4-FFF2-40B4-BE49-F238E27FC236}">
                <a16:creationId xmlns:a16="http://schemas.microsoft.com/office/drawing/2014/main" id="{62FFF1AD-16AA-1B25-B17E-838509EB94B7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5963" y="2074863"/>
            <a:ext cx="6767512" cy="3806825"/>
          </a:xfrm>
        </p:spPr>
      </p:pic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C98012BC-7215-FA48-846F-3EF2D348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57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66E0D65-4BA7-DC4C-D85E-C8703BFD0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 err="1"/>
              <a:t>Desspre</a:t>
            </a:r>
            <a:r>
              <a:rPr lang="en-US" dirty="0"/>
              <a:t> </a:t>
            </a:r>
            <a:r>
              <a:rPr lang="en-US" dirty="0" err="1"/>
              <a:t>Clipuri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D3D7FE-B9C7-9B2F-8203-CDE1138951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43429"/>
            <a:ext cx="10405174" cy="3925467"/>
          </a:xfrm>
        </p:spPr>
        <p:txBody>
          <a:bodyPr/>
          <a:lstStyle/>
          <a:p>
            <a:r>
              <a:rPr lang="en-US" dirty="0" err="1"/>
              <a:t>Clipurile</a:t>
            </a:r>
            <a:r>
              <a:rPr lang="en-US" dirty="0"/>
              <a:t> </a:t>
            </a:r>
            <a:r>
              <a:rPr lang="en-US" dirty="0" err="1"/>
              <a:t>anterioare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o </a:t>
            </a:r>
            <a:r>
              <a:rPr lang="en-US" dirty="0" err="1"/>
              <a:t>mică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din </a:t>
            </a:r>
            <a:r>
              <a:rPr lang="en-US" dirty="0" err="1"/>
              <a:t>viziunea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modului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dificil</a:t>
            </a:r>
            <a:r>
              <a:rPr lang="en-US" dirty="0"/>
              <a:t> de </a:t>
            </a:r>
            <a:r>
              <a:rPr lang="en-US" dirty="0" err="1"/>
              <a:t>explicat</a:t>
            </a:r>
            <a:r>
              <a:rPr lang="en-US" dirty="0"/>
              <a:t> </a:t>
            </a:r>
            <a:r>
              <a:rPr lang="en-US" dirty="0" err="1"/>
              <a:t>exclusiv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text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videoclipurile</a:t>
            </a:r>
            <a:r>
              <a:rPr lang="en-US" dirty="0"/>
              <a:t> nu </a:t>
            </a:r>
            <a:r>
              <a:rPr lang="en-US" dirty="0" err="1"/>
              <a:t>surprind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totalitate</a:t>
            </a:r>
            <a:r>
              <a:rPr lang="en-US" dirty="0"/>
              <a:t> </a:t>
            </a:r>
            <a:r>
              <a:rPr lang="en-US" dirty="0" err="1"/>
              <a:t>funcționalitatea</a:t>
            </a:r>
            <a:r>
              <a:rPr lang="en-US" dirty="0"/>
              <a:t> </a:t>
            </a:r>
            <a:r>
              <a:rPr lang="en-US" dirty="0" err="1"/>
              <a:t>completă</a:t>
            </a:r>
            <a:r>
              <a:rPr lang="en-US" dirty="0"/>
              <a:t> a </a:t>
            </a:r>
            <a:r>
              <a:rPr lang="en-US" dirty="0" err="1"/>
              <a:t>sistemului</a:t>
            </a:r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0546FA0B-40D6-AAA6-8F8F-0EBF8D8E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5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08" y="493776"/>
            <a:ext cx="5864352" cy="224942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Se pot </a:t>
            </a:r>
            <a:r>
              <a:rPr lang="en-US" dirty="0" err="1"/>
              <a:t>utiliza</a:t>
            </a:r>
            <a:r>
              <a:rPr lang="en-US" dirty="0"/>
              <a:t> Diverse </a:t>
            </a:r>
            <a:r>
              <a:rPr lang="en-US" dirty="0" err="1"/>
              <a:t>programe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modele</a:t>
            </a:r>
            <a:r>
              <a:rPr lang="en-US" dirty="0"/>
              <a:t> </a:t>
            </a:r>
          </a:p>
        </p:txBody>
      </p:sp>
      <p:pic>
        <p:nvPicPr>
          <p:cNvPr id="6" name="Picture Placeholder 5" descr="A logo of a computer software&#10;&#10;AI-generated content may be incorrect.">
            <a:extLst>
              <a:ext uri="{FF2B5EF4-FFF2-40B4-BE49-F238E27FC236}">
                <a16:creationId xmlns:a16="http://schemas.microsoft.com/office/drawing/2014/main" id="{EDD5D759-9CD4-FFC4-8321-C955560C2B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933" r="10675"/>
          <a:stretch>
            <a:fillRect/>
          </a:stretch>
        </p:blipFill>
        <p:spPr>
          <a:xfrm>
            <a:off x="7625969" y="-9144"/>
            <a:ext cx="4581525" cy="6602413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CBFC1B-26B2-E04D-8009-1372187A6A83}"/>
              </a:ext>
            </a:extLst>
          </p:cNvPr>
          <p:cNvSpPr txBox="1"/>
          <p:nvPr/>
        </p:nvSpPr>
        <p:spPr>
          <a:xfrm>
            <a:off x="2337816" y="3310350"/>
            <a:ext cx="299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Posterama (Headings)"/>
              </a:rPr>
              <a:t>FUSION 360</a:t>
            </a:r>
          </a:p>
        </p:txBody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B5E2-EF53-6D20-E12A-B6A6F5EF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C6B2-9761-049C-B403-DF6F2586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038" y="2633472"/>
            <a:ext cx="3971544" cy="795528"/>
          </a:xfrm>
        </p:spPr>
        <p:txBody>
          <a:bodyPr anchor="b">
            <a:normAutofit/>
          </a:bodyPr>
          <a:lstStyle/>
          <a:p>
            <a:r>
              <a:rPr lang="en-US" dirty="0"/>
              <a:t>Solid Works</a:t>
            </a:r>
          </a:p>
        </p:txBody>
      </p:sp>
      <p:pic>
        <p:nvPicPr>
          <p:cNvPr id="9" name="Picture Placeholder 8" descr="A red cube with white letters&#10;&#10;AI-generated content may be incorrect.">
            <a:extLst>
              <a:ext uri="{FF2B5EF4-FFF2-40B4-BE49-F238E27FC236}">
                <a16:creationId xmlns:a16="http://schemas.microsoft.com/office/drawing/2014/main" id="{CC60EAFA-FCDE-781E-9B7C-1B6B66FFCA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648" r="206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3109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D015-9225-D520-E99B-658F5B33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C442-32D2-F063-3821-FEF9DC331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940" y="2473452"/>
            <a:ext cx="1879092" cy="955548"/>
          </a:xfrm>
        </p:spPr>
        <p:txBody>
          <a:bodyPr anchor="b">
            <a:normAutofit/>
          </a:bodyPr>
          <a:lstStyle/>
          <a:p>
            <a:r>
              <a:rPr lang="en-US" dirty="0"/>
              <a:t>CATIA</a:t>
            </a:r>
          </a:p>
        </p:txBody>
      </p:sp>
      <p:pic>
        <p:nvPicPr>
          <p:cNvPr id="11" name="Picture Placeholder 10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7BB7AD4-5762-32F6-73DA-BFF5D0AC9F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304" r="15304"/>
          <a:stretch>
            <a:fillRect/>
          </a:stretch>
        </p:blipFill>
        <p:spPr>
          <a:xfrm>
            <a:off x="7625969" y="-223736"/>
            <a:ext cx="4581525" cy="6817005"/>
          </a:xfrm>
        </p:spPr>
      </p:pic>
    </p:spTree>
    <p:extLst>
      <p:ext uri="{BB962C8B-B14F-4D97-AF65-F5344CB8AC3E}">
        <p14:creationId xmlns:p14="http://schemas.microsoft.com/office/powerpoint/2010/main" val="216331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>
            <a:extLst>
              <a:ext uri="{FF2B5EF4-FFF2-40B4-BE49-F238E27FC236}">
                <a16:creationId xmlns:a16="http://schemas.microsoft.com/office/drawing/2014/main" id="{6EDF85E2-4209-932A-9885-0279E623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Decizii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Concluzii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DC2BB3B6-67EE-B19B-09DF-F3C49C3DA4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68279" y="1595081"/>
            <a:ext cx="8324089" cy="4426961"/>
          </a:xfrm>
        </p:spPr>
        <p:txBody>
          <a:bodyPr/>
          <a:lstStyle/>
          <a:p>
            <a:r>
              <a:rPr lang="en-US" dirty="0"/>
              <a:t>Tema </a:t>
            </a:r>
            <a:r>
              <a:rPr lang="en-US" dirty="0" err="1"/>
              <a:t>proiectului</a:t>
            </a:r>
            <a:r>
              <a:rPr lang="en-US" dirty="0"/>
              <a:t> m-a </a:t>
            </a:r>
            <a:r>
              <a:rPr lang="en-US" dirty="0" err="1"/>
              <a:t>determinat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iau</a:t>
            </a:r>
            <a:r>
              <a:rPr lang="en-US" dirty="0"/>
              <a:t> </a:t>
            </a:r>
            <a:r>
              <a:rPr lang="en-US" dirty="0" err="1"/>
              <a:t>decizia</a:t>
            </a:r>
            <a:r>
              <a:rPr lang="en-US" dirty="0"/>
              <a:t> de a </a:t>
            </a:r>
            <a:r>
              <a:rPr lang="en-US" dirty="0" err="1"/>
              <a:t>proiecta</a:t>
            </a:r>
            <a:r>
              <a:rPr lang="en-US" dirty="0"/>
              <a:t> manual o </a:t>
            </a:r>
            <a:r>
              <a:rPr lang="en-US" dirty="0" err="1"/>
              <a:t>parte</a:t>
            </a:r>
            <a:r>
              <a:rPr lang="en-US" dirty="0"/>
              <a:t> din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și</a:t>
            </a:r>
            <a:r>
              <a:rPr lang="en-US" dirty="0"/>
              <a:t> de a o </a:t>
            </a:r>
            <a:r>
              <a:rPr lang="en-US" dirty="0" err="1"/>
              <a:t>prelucra</a:t>
            </a:r>
            <a:r>
              <a:rPr lang="en-US" dirty="0"/>
              <a:t> personal.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ultimele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slide-</a:t>
            </a:r>
            <a:r>
              <a:rPr lang="en-US" dirty="0" err="1"/>
              <a:t>uri</a:t>
            </a:r>
            <a:r>
              <a:rPr lang="en-US" dirty="0"/>
              <a:t> sunt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programe</a:t>
            </a:r>
            <a:r>
              <a:rPr lang="en-US" dirty="0"/>
              <a:t> pe care le-am </a:t>
            </a:r>
            <a:r>
              <a:rPr lang="en-US" dirty="0" err="1"/>
              <a:t>utilizat</a:t>
            </a:r>
            <a:r>
              <a:rPr lang="en-US" dirty="0"/>
              <a:t> individual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proiectarea</a:t>
            </a:r>
            <a:r>
              <a:rPr lang="en-US" dirty="0"/>
              <a:t> </a:t>
            </a:r>
            <a:r>
              <a:rPr lang="en-US" dirty="0" err="1"/>
              <a:t>pieselor</a:t>
            </a:r>
            <a:r>
              <a:rPr lang="en-US" dirty="0"/>
              <a:t> CAD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date.</a:t>
            </a:r>
          </a:p>
          <a:p>
            <a:r>
              <a:rPr lang="en-US" dirty="0" err="1"/>
              <a:t>Decizia</a:t>
            </a:r>
            <a:r>
              <a:rPr lang="en-US" dirty="0"/>
              <a:t> de a </a:t>
            </a:r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CAD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avantajul</a:t>
            </a:r>
            <a:r>
              <a:rPr lang="en-US" dirty="0"/>
              <a:t> </a:t>
            </a:r>
            <a:r>
              <a:rPr lang="en-US" dirty="0" err="1"/>
              <a:t>posibilității</a:t>
            </a:r>
            <a:r>
              <a:rPr lang="en-US" dirty="0"/>
              <a:t> de </a:t>
            </a:r>
            <a:r>
              <a:rPr lang="en-US" dirty="0" err="1"/>
              <a:t>implementare</a:t>
            </a:r>
            <a:r>
              <a:rPr lang="en-US" dirty="0"/>
              <a:t> a </a:t>
            </a:r>
            <a:r>
              <a:rPr lang="en-US" dirty="0" err="1"/>
              <a:t>programului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proiectării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putând</a:t>
            </a:r>
            <a:r>
              <a:rPr lang="en-US" dirty="0"/>
              <a:t> fi </a:t>
            </a:r>
            <a:r>
              <a:rPr lang="en-US" dirty="0" err="1"/>
              <a:t>învățat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identifice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recomande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de </a:t>
            </a:r>
            <a:r>
              <a:rPr lang="en-US" dirty="0" err="1"/>
              <a:t>fixare</a:t>
            </a:r>
            <a:r>
              <a:rPr lang="en-US" dirty="0"/>
              <a:t> care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structurarea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.</a:t>
            </a:r>
          </a:p>
          <a:p>
            <a:r>
              <a:rPr lang="en-US" dirty="0" err="1"/>
              <a:t>Conzulia</a:t>
            </a:r>
            <a:r>
              <a:rPr lang="en-US" dirty="0"/>
              <a:t> :Tema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m-au </a:t>
            </a:r>
            <a:r>
              <a:rPr lang="en-US" dirty="0" err="1"/>
              <a:t>ajutat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privesc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mod </a:t>
            </a:r>
            <a:r>
              <a:rPr lang="en-US" dirty="0" err="1"/>
              <a:t>diferit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pozitiv</a:t>
            </a:r>
            <a:r>
              <a:rPr lang="en-US" dirty="0"/>
              <a:t>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pe </a:t>
            </a:r>
            <a:r>
              <a:rPr lang="en-US" dirty="0" err="1"/>
              <a:t>cea</a:t>
            </a:r>
            <a:r>
              <a:rPr lang="en-US" dirty="0"/>
              <a:t> de </a:t>
            </a:r>
            <a:r>
              <a:rPr lang="en-US" dirty="0" err="1"/>
              <a:t>proiectare</a:t>
            </a:r>
            <a:r>
              <a:rPr lang="en-US" dirty="0"/>
              <a:t>, </a:t>
            </a:r>
            <a:r>
              <a:rPr lang="en-US" dirty="0" err="1"/>
              <a:t>observând</a:t>
            </a:r>
            <a:r>
              <a:rPr lang="en-US" dirty="0"/>
              <a:t> cum </a:t>
            </a:r>
            <a:r>
              <a:rPr lang="en-US" dirty="0" err="1"/>
              <a:t>acestea</a:t>
            </a:r>
            <a:r>
              <a:rPr lang="en-US" dirty="0"/>
              <a:t> se </a:t>
            </a:r>
            <a:r>
              <a:rPr lang="en-US" dirty="0" err="1"/>
              <a:t>evidențiază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completează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67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416" y="223934"/>
            <a:ext cx="1357106" cy="561404"/>
          </a:xfrm>
        </p:spPr>
        <p:txBody>
          <a:bodyPr/>
          <a:lstStyle/>
          <a:p>
            <a:r>
              <a:rPr lang="en-ZA" dirty="0" err="1"/>
              <a:t>Surse</a:t>
            </a:r>
            <a:endParaRPr lang="en-Z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A21C12-35FF-F876-C995-FB7DC5189F0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0" y="828288"/>
            <a:ext cx="1219200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rețelelor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ratingului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ţară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A. M. M. Iordache.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Universitară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Editura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Universitară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context de date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capitolele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„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„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fundalul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teoretic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Inteligenţa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computaţională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inspiraţie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Universitatea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Politehnica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Bucureşti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etti.upb.ro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Conţine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secţiuni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recunoaşterea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feed‑forward, MLP‑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 util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limba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română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iTransfer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(UAIC), 2019.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itransfer.uaic.ro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imaginilor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direct relevant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randări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referinţă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vizuală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1800" b="1" dirty="0"/>
              <a:t>Zhao, X., &amp; Chen, J. (2020).</a:t>
            </a:r>
            <a:br>
              <a:rPr lang="en-US" sz="1800" dirty="0"/>
            </a:br>
            <a:r>
              <a:rPr lang="en-US" sz="1800" i="1" dirty="0"/>
              <a:t>Machine Learning Approaches for Mechanical Parts Recognition and Classification.</a:t>
            </a:r>
            <a:br>
              <a:rPr lang="en-US" sz="1800" dirty="0"/>
            </a:br>
            <a:r>
              <a:rPr lang="en-US" sz="1800" i="1" dirty="0"/>
              <a:t>Mechanical Systems and Signal Processing</a:t>
            </a:r>
            <a:r>
              <a:rPr lang="en-US" sz="1800" dirty="0"/>
              <a:t>, 140, 106656.</a:t>
            </a:r>
            <a:br>
              <a:rPr lang="en-US" sz="1800" dirty="0"/>
            </a:br>
            <a:r>
              <a:rPr lang="en-US" sz="1800" dirty="0" err="1"/>
              <a:t>Disponibil</a:t>
            </a:r>
            <a:r>
              <a:rPr lang="en-US" sz="1800" dirty="0"/>
              <a:t> la: </a:t>
            </a:r>
            <a:r>
              <a:rPr lang="en-US" sz="1800" dirty="0">
                <a:hlinkClick r:id="rId5"/>
              </a:rPr>
              <a:t>ScienceDirect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073" y="282101"/>
            <a:ext cx="5864352" cy="1706361"/>
          </a:xfrm>
        </p:spPr>
        <p:txBody>
          <a:bodyPr/>
          <a:lstStyle/>
          <a:p>
            <a:r>
              <a:rPr lang="en-ZA" dirty="0" err="1"/>
              <a:t>Parere</a:t>
            </a:r>
            <a:r>
              <a:rPr lang="en-ZA" dirty="0"/>
              <a:t> </a:t>
            </a:r>
            <a:r>
              <a:rPr lang="en-ZA" dirty="0" err="1"/>
              <a:t>personala</a:t>
            </a:r>
            <a:r>
              <a:rPr lang="en-ZA" dirty="0"/>
              <a:t> </a:t>
            </a:r>
            <a:r>
              <a:rPr lang="en-ZA" dirty="0" err="1"/>
              <a:t>legata</a:t>
            </a:r>
            <a:r>
              <a:rPr lang="en-ZA" dirty="0"/>
              <a:t> de </a:t>
            </a:r>
            <a:r>
              <a:rPr lang="en-ZA" dirty="0" err="1"/>
              <a:t>Proiect</a:t>
            </a:r>
            <a:endParaRPr lang="en-ZA" dirty="0"/>
          </a:p>
        </p:txBody>
      </p:sp>
      <p:pic>
        <p:nvPicPr>
          <p:cNvPr id="12" name="Picture Placeholder 11" descr="A person in a yellow shirt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11302" y="2227635"/>
            <a:ext cx="6648923" cy="4248704"/>
          </a:xfrm>
        </p:spPr>
        <p:txBody>
          <a:bodyPr>
            <a:normAutofit/>
          </a:bodyPr>
          <a:lstStyle/>
          <a:p>
            <a:r>
              <a:rPr lang="en-US" dirty="0"/>
              <a:t>Consider ca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aleasa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ambitioasa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care desi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revolutionara</a:t>
            </a:r>
            <a:r>
              <a:rPr lang="en-US" dirty="0"/>
              <a:t> la o prima </a:t>
            </a:r>
            <a:r>
              <a:rPr lang="en-US" dirty="0" err="1"/>
              <a:t>vedre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 o </a:t>
            </a:r>
            <a:r>
              <a:rPr lang="en-US" dirty="0" err="1"/>
              <a:t>industre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reduce </a:t>
            </a:r>
            <a:r>
              <a:rPr lang="en-US" dirty="0" err="1"/>
              <a:t>timpurile</a:t>
            </a:r>
            <a:r>
              <a:rPr lang="en-US" dirty="0"/>
              <a:t> de </a:t>
            </a:r>
            <a:r>
              <a:rPr lang="en-US" dirty="0" err="1"/>
              <a:t>productie</a:t>
            </a:r>
            <a:r>
              <a:rPr lang="en-US" dirty="0"/>
              <a:t> (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lenta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manuala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om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lucre 24 de ore pe zi </a:t>
            </a:r>
            <a:r>
              <a:rPr lang="en-US" dirty="0" err="1"/>
              <a:t>fara</a:t>
            </a:r>
            <a:r>
              <a:rPr lang="en-US" dirty="0"/>
              <a:t> a fi </a:t>
            </a:r>
            <a:r>
              <a:rPr lang="en-US" dirty="0" err="1"/>
              <a:t>platita</a:t>
            </a:r>
            <a:r>
              <a:rPr lang="en-US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230e9df3-be65-4c73-a93b-d1236ebd677e"/>
    <ds:schemaRef ds:uri="16c05727-aa75-4e4a-9b5f-8a80a116589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{5E3F6316-2133-4C12-A51E-0212B5A034AF}tf16411248_win32</Template>
  <TotalTime>135</TotalTime>
  <Words>1261</Words>
  <Application>Microsoft Office PowerPoint</Application>
  <PresentationFormat>Ecran lat</PresentationFormat>
  <Paragraphs>78</Paragraphs>
  <Slides>17</Slides>
  <Notes>0</Notes>
  <HiddenSlides>0</HiddenSlides>
  <MMClips>2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17</vt:i4>
      </vt:variant>
    </vt:vector>
  </HeadingPairs>
  <TitlesOfParts>
    <vt:vector size="24" baseType="lpstr">
      <vt:lpstr>Arial</vt:lpstr>
      <vt:lpstr>Avenir Next LT Pro Light</vt:lpstr>
      <vt:lpstr>Calibri</vt:lpstr>
      <vt:lpstr>Posterama</vt:lpstr>
      <vt:lpstr>Posterama (Headings)</vt:lpstr>
      <vt:lpstr>Times New Roman</vt:lpstr>
      <vt:lpstr>Custom</vt:lpstr>
      <vt:lpstr>IDENTIFICAREA ȘI CLASIFICAREA ELEMENTELOR DE FIXARE: PIESE FIZICE ȘI MODELE CAD</vt:lpstr>
      <vt:lpstr>Descriere </vt:lpstr>
      <vt:lpstr>Descrieți ideea generală a proiectului în contextul Sistemelor cu Inteligență Artificială</vt:lpstr>
      <vt:lpstr>. Identificați Domeniul Industrial de Interes (DII) – un studiu de caz</vt:lpstr>
      <vt:lpstr>Stadiul actual al studiului de caz </vt:lpstr>
      <vt:lpstr>Argumentați ce beneficii măsurabile ar trebui să aducă SIA </vt:lpstr>
      <vt:lpstr>Prezentare PowerPoint</vt:lpstr>
      <vt:lpstr>Prezentare PowerPoint</vt:lpstr>
      <vt:lpstr>Prezentare PowerPoint</vt:lpstr>
      <vt:lpstr>Prezentare PowerPoint</vt:lpstr>
      <vt:lpstr>Desspre Clipuri</vt:lpstr>
      <vt:lpstr>Se pot utiliza Diverse programe Pentru crearea de modele </vt:lpstr>
      <vt:lpstr>Solid Works</vt:lpstr>
      <vt:lpstr>CATIA</vt:lpstr>
      <vt:lpstr>5. Decizii si Concluzii  </vt:lpstr>
      <vt:lpstr>Surse</vt:lpstr>
      <vt:lpstr>Parere personala legata de Proiect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Andrei-Cătălin SAVU (140060)</dc:creator>
  <cp:lastModifiedBy>Andrei-Cătălin SAVU (140060)</cp:lastModifiedBy>
  <cp:revision>3</cp:revision>
  <dcterms:created xsi:type="dcterms:W3CDTF">2025-11-06T06:55:11Z</dcterms:created>
  <dcterms:modified xsi:type="dcterms:W3CDTF">2026-02-03T23:31:01Z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